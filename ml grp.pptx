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48" d="100"/>
          <a:sy n="48" d="100"/>
        </p:scale>
        <p:origin x="67" y="7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7814884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08139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68674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E4D80A-A524-435F-8BAD-5B82261D357A}"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3787797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E4D80A-A524-435F-8BAD-5B82261D357A}" type="datetimeFigureOut">
              <a:rPr lang="en-IN" smtClean="0"/>
              <a:t>03-06-2025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2901422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E4D80A-A524-435F-8BAD-5B82261D357A}" type="datetimeFigureOut">
              <a:rPr lang="en-IN" smtClean="0"/>
              <a:t>03-06-2025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266571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0E4D80A-A524-435F-8BAD-5B82261D357A}" type="datetimeFigureOut">
              <a:rPr lang="en-IN" smtClean="0"/>
              <a:t>03-06-2025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75160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E4D80A-A524-435F-8BAD-5B82261D357A}"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4104630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E4D80A-A524-435F-8BAD-5B82261D357A}"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58758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E4D80A-A524-435F-8BAD-5B82261D357A}"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241576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360164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313918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1110524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975882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9521913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621146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E4D80A-A524-435F-8BAD-5B82261D357A}"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F54180-AB82-4B34-BDDE-8B9EE01686E9}" type="slidenum">
              <a:rPr lang="en-IN" smtClean="0"/>
              <a:t>‹#›</a:t>
            </a:fld>
            <a:endParaRPr lang="en-IN"/>
          </a:p>
        </p:txBody>
      </p:sp>
    </p:spTree>
    <p:extLst>
      <p:ext uri="{BB962C8B-B14F-4D97-AF65-F5344CB8AC3E}">
        <p14:creationId xmlns:p14="http://schemas.microsoft.com/office/powerpoint/2010/main" val="420537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E4D80A-A524-435F-8BAD-5B82261D357A}" type="datetimeFigureOut">
              <a:rPr lang="en-IN" smtClean="0"/>
              <a:t>03-06-2025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F54180-AB82-4B34-BDDE-8B9EE01686E9}" type="slidenum">
              <a:rPr lang="en-IN" smtClean="0"/>
              <a:t>‹#›</a:t>
            </a:fld>
            <a:endParaRPr lang="en-IN"/>
          </a:p>
        </p:txBody>
      </p:sp>
    </p:spTree>
    <p:extLst>
      <p:ext uri="{BB962C8B-B14F-4D97-AF65-F5344CB8AC3E}">
        <p14:creationId xmlns:p14="http://schemas.microsoft.com/office/powerpoint/2010/main" val="41962330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179FAB-4BFE-6531-34BB-5A4912CF9CB5}"/>
              </a:ext>
            </a:extLst>
          </p:cNvPr>
          <p:cNvPicPr>
            <a:picLocks noChangeAspect="1"/>
          </p:cNvPicPr>
          <p:nvPr/>
        </p:nvPicPr>
        <p:blipFill>
          <a:blip r:embed="rId2"/>
          <a:stretch>
            <a:fillRect/>
          </a:stretch>
        </p:blipFill>
        <p:spPr>
          <a:xfrm>
            <a:off x="-7138" y="0"/>
            <a:ext cx="12199137" cy="6853989"/>
          </a:xfrm>
          <a:prstGeom prst="rect">
            <a:avLst/>
          </a:prstGeom>
        </p:spPr>
      </p:pic>
    </p:spTree>
    <p:extLst>
      <p:ext uri="{BB962C8B-B14F-4D97-AF65-F5344CB8AC3E}">
        <p14:creationId xmlns:p14="http://schemas.microsoft.com/office/powerpoint/2010/main" val="3447411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5943EE-3F56-2C6C-5114-7BD4C395E6A4}"/>
              </a:ext>
            </a:extLst>
          </p:cNvPr>
          <p:cNvSpPr txBox="1"/>
          <p:nvPr/>
        </p:nvSpPr>
        <p:spPr>
          <a:xfrm>
            <a:off x="449179" y="3232485"/>
            <a:ext cx="11486147" cy="3046988"/>
          </a:xfrm>
          <a:prstGeom prst="rect">
            <a:avLst/>
          </a:prstGeom>
          <a:noFill/>
        </p:spPr>
        <p:txBody>
          <a:bodyPr wrap="square">
            <a:spAutoFit/>
          </a:bodyPr>
          <a:lstStyle/>
          <a:p>
            <a:pPr>
              <a:buNone/>
            </a:pPr>
            <a:r>
              <a:rPr lang="en-US" sz="2400" b="1" dirty="0"/>
              <a:t>Content:</a:t>
            </a:r>
          </a:p>
          <a:p>
            <a:pPr>
              <a:buFont typeface="Arial" panose="020B0604020202020204" pitchFamily="34" charset="0"/>
              <a:buChar char="•"/>
            </a:pPr>
            <a:r>
              <a:rPr lang="en-US" dirty="0"/>
              <a:t>The problem: Many modern materials are harmful to the environment, but it's hard to classify them manually.</a:t>
            </a:r>
          </a:p>
          <a:p>
            <a:pPr>
              <a:buFont typeface="Arial" panose="020B0604020202020204" pitchFamily="34" charset="0"/>
              <a:buChar char="•"/>
            </a:pPr>
            <a:r>
              <a:rPr lang="en-US" dirty="0"/>
              <a:t>Our solution: A machine learning model that automatically predicts whether a material is eco-friendly based on its properties and description.</a:t>
            </a:r>
          </a:p>
          <a:p>
            <a:pPr>
              <a:buFont typeface="Arial" panose="020B0604020202020204" pitchFamily="34" charset="0"/>
              <a:buChar char="•"/>
            </a:pPr>
            <a:r>
              <a:rPr lang="en-US" dirty="0"/>
              <a:t>Data sources:</a:t>
            </a:r>
          </a:p>
          <a:p>
            <a:pPr marL="742950" lvl="1" indent="-285750">
              <a:buFont typeface="Arial" panose="020B0604020202020204" pitchFamily="34" charset="0"/>
              <a:buChar char="•"/>
            </a:pPr>
            <a:r>
              <a:rPr lang="en-US" dirty="0"/>
              <a:t>US EPA Safer Chemical Ingredients List (SCIL)</a:t>
            </a:r>
          </a:p>
          <a:p>
            <a:pPr marL="742950" lvl="1" indent="-285750">
              <a:buFont typeface="Arial" panose="020B0604020202020204" pitchFamily="34" charset="0"/>
              <a:buChar char="•"/>
            </a:pPr>
            <a:r>
              <a:rPr lang="en-US" dirty="0"/>
              <a:t>PubChem Chemical Database</a:t>
            </a:r>
          </a:p>
          <a:p>
            <a:pPr lvl="1"/>
            <a:r>
              <a:rPr lang="en-US" sz="2400" b="1" dirty="0"/>
              <a:t>Goal: </a:t>
            </a:r>
            <a:endParaRPr lang="en-US" sz="2400" dirty="0"/>
          </a:p>
          <a:p>
            <a:pPr>
              <a:buFont typeface="Arial" panose="020B0604020202020204" pitchFamily="34" charset="0"/>
              <a:buChar char="•"/>
            </a:pPr>
            <a:r>
              <a:rPr lang="en-US" dirty="0"/>
              <a:t>To build an intelligent, lightweight, and explainable tool that helps users — including students, researchers, and manufacturers — easily assess whether a material is environmentally safe.</a:t>
            </a:r>
          </a:p>
        </p:txBody>
      </p:sp>
      <p:sp>
        <p:nvSpPr>
          <p:cNvPr id="5" name="TextBox 4">
            <a:extLst>
              <a:ext uri="{FF2B5EF4-FFF2-40B4-BE49-F238E27FC236}">
                <a16:creationId xmlns:a16="http://schemas.microsoft.com/office/drawing/2014/main" id="{3DE30A22-A2BA-902C-117E-48E813759472}"/>
              </a:ext>
            </a:extLst>
          </p:cNvPr>
          <p:cNvSpPr txBox="1"/>
          <p:nvPr/>
        </p:nvSpPr>
        <p:spPr>
          <a:xfrm>
            <a:off x="449179" y="304801"/>
            <a:ext cx="11229472" cy="1863570"/>
          </a:xfrm>
          <a:prstGeom prst="rect">
            <a:avLst/>
          </a:prstGeom>
          <a:noFill/>
        </p:spPr>
        <p:txBody>
          <a:bodyPr wrap="square">
            <a:spAutoFit/>
          </a:bodyPr>
          <a:lstStyle/>
          <a:p>
            <a:pPr>
              <a:buNone/>
            </a:pPr>
            <a:r>
              <a:rPr lang="en-US" sz="2400" b="1"/>
              <a:t>Introduction Text:</a:t>
            </a:r>
          </a:p>
          <a:p>
            <a:pPr>
              <a:buNone/>
            </a:pPr>
            <a:r>
              <a:rPr lang="en-US"/>
              <a:t>In today’s world, identifying environmentally safe materials is essential for promoting sustainable development. However, manually determining whether a material is eco-friendly often requires chemical expertise and access to regulatory databases.</a:t>
            </a:r>
          </a:p>
          <a:p>
            <a:r>
              <a:rPr lang="en-US"/>
              <a:t>This project proposes a machine learning-based solution to automatically classify materials as eco-friendly or not based on public data such as chemical descriptions and eco-certifications</a:t>
            </a:r>
            <a:endParaRPr lang="en-US" dirty="0"/>
          </a:p>
        </p:txBody>
      </p:sp>
      <p:sp>
        <p:nvSpPr>
          <p:cNvPr id="7" name="TextBox 6">
            <a:extLst>
              <a:ext uri="{FF2B5EF4-FFF2-40B4-BE49-F238E27FC236}">
                <a16:creationId xmlns:a16="http://schemas.microsoft.com/office/drawing/2014/main" id="{267FCD7A-A064-AAFA-B18F-BB04A91310E6}"/>
              </a:ext>
            </a:extLst>
          </p:cNvPr>
          <p:cNvSpPr txBox="1"/>
          <p:nvPr/>
        </p:nvSpPr>
        <p:spPr>
          <a:xfrm>
            <a:off x="449179" y="2309155"/>
            <a:ext cx="11036968" cy="923330"/>
          </a:xfrm>
          <a:prstGeom prst="rect">
            <a:avLst/>
          </a:prstGeom>
          <a:noFill/>
        </p:spPr>
        <p:txBody>
          <a:bodyPr wrap="square">
            <a:spAutoFit/>
          </a:bodyPr>
          <a:lstStyle/>
          <a:p>
            <a:r>
              <a:rPr lang="en-US" dirty="0"/>
              <a:t>We used trusted sources such as the U.S. EPA’s Safer Chemical Ingredients List (SCIL) and PubChem to gather information on various substances. By applying natural language processing (NLP) and classification algorithms, the system can predict the environmental safety of a material based on its properties and usage description.</a:t>
            </a:r>
            <a:endParaRPr lang="en-IN" dirty="0"/>
          </a:p>
        </p:txBody>
      </p:sp>
    </p:spTree>
    <p:extLst>
      <p:ext uri="{BB962C8B-B14F-4D97-AF65-F5344CB8AC3E}">
        <p14:creationId xmlns:p14="http://schemas.microsoft.com/office/powerpoint/2010/main" val="88851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C822149-D76B-C06C-72C1-CF35158ABE85}"/>
              </a:ext>
            </a:extLst>
          </p:cNvPr>
          <p:cNvGraphicFramePr>
            <a:graphicFrameLocks noGrp="1"/>
          </p:cNvGraphicFramePr>
          <p:nvPr>
            <p:extLst>
              <p:ext uri="{D42A27DB-BD31-4B8C-83A1-F6EECF244321}">
                <p14:modId xmlns:p14="http://schemas.microsoft.com/office/powerpoint/2010/main" val="2283225980"/>
              </p:ext>
            </p:extLst>
          </p:nvPr>
        </p:nvGraphicFramePr>
        <p:xfrm>
          <a:off x="368969" y="1270764"/>
          <a:ext cx="10984832" cy="4286615"/>
        </p:xfrm>
        <a:graphic>
          <a:graphicData uri="http://schemas.openxmlformats.org/drawingml/2006/table">
            <a:tbl>
              <a:tblPr>
                <a:tableStyleId>{2D5ABB26-0587-4C30-8999-92F81FD0307C}</a:tableStyleId>
              </a:tblPr>
              <a:tblGrid>
                <a:gridCol w="4136941">
                  <a:extLst>
                    <a:ext uri="{9D8B030D-6E8A-4147-A177-3AD203B41FA5}">
                      <a16:colId xmlns:a16="http://schemas.microsoft.com/office/drawing/2014/main" val="2379633981"/>
                    </a:ext>
                  </a:extLst>
                </a:gridCol>
                <a:gridCol w="6847891">
                  <a:extLst>
                    <a:ext uri="{9D8B030D-6E8A-4147-A177-3AD203B41FA5}">
                      <a16:colId xmlns:a16="http://schemas.microsoft.com/office/drawing/2014/main" val="3393854342"/>
                    </a:ext>
                  </a:extLst>
                </a:gridCol>
              </a:tblGrid>
              <a:tr h="428661">
                <a:tc>
                  <a:txBody>
                    <a:bodyPr/>
                    <a:lstStyle/>
                    <a:p>
                      <a:r>
                        <a:rPr lang="en-IN"/>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369230"/>
                  </a:ext>
                </a:extLst>
              </a:tr>
              <a:tr h="428661">
                <a:tc>
                  <a:txBody>
                    <a:bodyPr/>
                    <a:lstStyle/>
                    <a:p>
                      <a:r>
                        <a:rPr lang="en-IN"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Common name of the material (e.g., Ethanol, PVC)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53085"/>
                  </a:ext>
                </a:extLst>
              </a:tr>
              <a:tr h="428661">
                <a:tc>
                  <a:txBody>
                    <a:bodyPr/>
                    <a:lstStyle/>
                    <a:p>
                      <a:r>
                        <a:rPr lang="en-IN" dirty="0"/>
                        <a:t>CASRN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Unique chemical identifier (CAS Registry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8199572"/>
                  </a:ext>
                </a:extLst>
              </a:tr>
              <a:tr h="750158">
                <a:tc>
                  <a:txBody>
                    <a:bodyPr/>
                    <a:lstStyle/>
                    <a:p>
                      <a:r>
                        <a:rPr lang="en-IN" dirty="0"/>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Label from EPA indicating eco-friendliness (e.g., Green Circle)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5867732"/>
                  </a:ext>
                </a:extLst>
              </a:tr>
              <a:tr h="750158">
                <a:tc>
                  <a:txBody>
                    <a:bodyPr/>
                    <a:lstStyle/>
                    <a:p>
                      <a:r>
                        <a:rPr lang="en-IN"/>
                        <a:t>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Binary classification: 1 = Eco-Friendly, 0 = Not Eco-Friendly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950873"/>
                  </a:ext>
                </a:extLst>
              </a:tr>
              <a:tr h="750158">
                <a:tc>
                  <a:txBody>
                    <a:bodyPr/>
                    <a:lstStyle/>
                    <a:p>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Short text summary from PubChem or EPA, includes material usage, toxicity, biodegradability,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241887"/>
                  </a:ext>
                </a:extLst>
              </a:tr>
              <a:tr h="750158">
                <a:tc>
                  <a:txBody>
                    <a:bodyPr/>
                    <a:lstStyle/>
                    <a:p>
                      <a:r>
                        <a:rPr lang="en-IN"/>
                        <a:t>Toxicity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Text or categorical info (optional column) describing health/environmental hazards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370162"/>
                  </a:ext>
                </a:extLst>
              </a:tr>
            </a:tbl>
          </a:graphicData>
        </a:graphic>
      </p:graphicFrame>
      <p:sp>
        <p:nvSpPr>
          <p:cNvPr id="5" name="Rectangle 1">
            <a:extLst>
              <a:ext uri="{FF2B5EF4-FFF2-40B4-BE49-F238E27FC236}">
                <a16:creationId xmlns:a16="http://schemas.microsoft.com/office/drawing/2014/main" id="{C9A7A119-3070-2F19-D575-0104F58BDF44}"/>
              </a:ext>
            </a:extLst>
          </p:cNvPr>
          <p:cNvSpPr>
            <a:spLocks noChangeArrowheads="1"/>
          </p:cNvSpPr>
          <p:nvPr/>
        </p:nvSpPr>
        <p:spPr bwMode="auto">
          <a:xfrm>
            <a:off x="0" y="593656"/>
            <a:ext cx="1204762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Understanding the Dataset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4B78160E-B9E3-9D91-072F-309504C626FE}"/>
              </a:ext>
            </a:extLst>
          </p:cNvPr>
          <p:cNvSpPr txBox="1"/>
          <p:nvPr/>
        </p:nvSpPr>
        <p:spPr>
          <a:xfrm>
            <a:off x="368969" y="5967585"/>
            <a:ext cx="114540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Total entries collected: ~300+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Balanced between eco-friendly and non-eco-friendly materials.</a:t>
            </a:r>
          </a:p>
        </p:txBody>
      </p:sp>
    </p:spTree>
    <p:extLst>
      <p:ext uri="{BB962C8B-B14F-4D97-AF65-F5344CB8AC3E}">
        <p14:creationId xmlns:p14="http://schemas.microsoft.com/office/powerpoint/2010/main" val="2263556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E4C11-4EDA-0490-52EE-D43731BEDF6D}"/>
              </a:ext>
            </a:extLst>
          </p:cNvPr>
          <p:cNvSpPr txBox="1"/>
          <p:nvPr/>
        </p:nvSpPr>
        <p:spPr>
          <a:xfrm>
            <a:off x="128337" y="139875"/>
            <a:ext cx="11871158" cy="6186309"/>
          </a:xfrm>
          <a:prstGeom prst="rect">
            <a:avLst/>
          </a:prstGeom>
          <a:noFill/>
        </p:spPr>
        <p:txBody>
          <a:bodyPr wrap="square">
            <a:spAutoFit/>
          </a:bodyPr>
          <a:lstStyle/>
          <a:p>
            <a:pPr>
              <a:buNone/>
            </a:pPr>
            <a:r>
              <a:rPr lang="en-IN" sz="2400" b="1" dirty="0"/>
              <a:t>Classification Model Overview:</a:t>
            </a:r>
          </a:p>
          <a:p>
            <a:pPr>
              <a:buNone/>
            </a:pPr>
            <a:endParaRPr lang="en-IN" sz="2400" b="1" dirty="0"/>
          </a:p>
          <a:p>
            <a:pPr>
              <a:buFont typeface="Arial" panose="020B0604020202020204" pitchFamily="34" charset="0"/>
              <a:buChar char="•"/>
            </a:pPr>
            <a:r>
              <a:rPr lang="en-IN" sz="2400" b="1" dirty="0"/>
              <a:t>ML Pipeline:</a:t>
            </a:r>
          </a:p>
          <a:p>
            <a:pPr marL="742950" lvl="1" indent="-285750">
              <a:buFont typeface="Arial" panose="020B0604020202020204" pitchFamily="34" charset="0"/>
              <a:buChar char="•"/>
            </a:pPr>
            <a:r>
              <a:rPr lang="en-IN" dirty="0"/>
              <a:t>Data Collection &amp; </a:t>
            </a:r>
            <a:r>
              <a:rPr lang="en-IN" dirty="0" err="1"/>
              <a:t>Labeling</a:t>
            </a:r>
            <a:r>
              <a:rPr lang="en-IN" dirty="0"/>
              <a:t> (EPA SCIL + PubChem)</a:t>
            </a:r>
          </a:p>
          <a:p>
            <a:pPr marL="742950" lvl="1" indent="-285750">
              <a:buFont typeface="Arial" panose="020B0604020202020204" pitchFamily="34" charset="0"/>
              <a:buChar char="•"/>
            </a:pPr>
            <a:r>
              <a:rPr lang="en-IN" dirty="0"/>
              <a:t>Text Preprocessing (Cleaning descriptions)</a:t>
            </a:r>
          </a:p>
          <a:p>
            <a:pPr marL="742950" lvl="1" indent="-285750">
              <a:buFont typeface="Arial" panose="020B0604020202020204" pitchFamily="34" charset="0"/>
              <a:buChar char="•"/>
            </a:pPr>
            <a:r>
              <a:rPr lang="en-IN" dirty="0"/>
              <a:t>Feature Extraction: TF-IDF vectorization from text</a:t>
            </a:r>
          </a:p>
          <a:p>
            <a:pPr marL="742950" lvl="1" indent="-285750">
              <a:buFont typeface="Arial" panose="020B0604020202020204" pitchFamily="34" charset="0"/>
              <a:buChar char="•"/>
            </a:pPr>
            <a:r>
              <a:rPr lang="en-IN" dirty="0"/>
              <a:t>Classification: Logistic Regression / Random Forest</a:t>
            </a:r>
          </a:p>
          <a:p>
            <a:pPr marL="742950" lvl="1" indent="-285750">
              <a:buFont typeface="Arial" panose="020B0604020202020204" pitchFamily="34" charset="0"/>
              <a:buChar char="•"/>
            </a:pPr>
            <a:r>
              <a:rPr lang="en-IN" dirty="0"/>
              <a:t>Evaluation: Accuracy, Precision, Recall</a:t>
            </a:r>
          </a:p>
          <a:p>
            <a:pPr lvl="1"/>
            <a:endParaRPr lang="en-IN" dirty="0"/>
          </a:p>
          <a:p>
            <a:pPr>
              <a:buFont typeface="Arial" panose="020B0604020202020204" pitchFamily="34" charset="0"/>
              <a:buChar char="•"/>
            </a:pPr>
            <a:r>
              <a:rPr lang="en-IN" sz="2400" b="1" dirty="0"/>
              <a:t>Model Input:</a:t>
            </a:r>
          </a:p>
          <a:p>
            <a:pPr marL="742950" lvl="1" indent="-285750">
              <a:buFont typeface="Arial" panose="020B0604020202020204" pitchFamily="34" charset="0"/>
              <a:buChar char="•"/>
            </a:pPr>
            <a:r>
              <a:rPr lang="en-IN" dirty="0"/>
              <a:t>Text description of the material</a:t>
            </a:r>
          </a:p>
          <a:p>
            <a:pPr lvl="1"/>
            <a:endParaRPr lang="en-IN" dirty="0"/>
          </a:p>
          <a:p>
            <a:pPr>
              <a:buFont typeface="Arial" panose="020B0604020202020204" pitchFamily="34" charset="0"/>
              <a:buChar char="•"/>
            </a:pPr>
            <a:r>
              <a:rPr lang="en-IN" sz="2400" b="1" dirty="0"/>
              <a:t>Model Output:</a:t>
            </a:r>
          </a:p>
          <a:p>
            <a:pPr marL="742950" lvl="1" indent="-285750">
              <a:buFont typeface="Arial" panose="020B0604020202020204" pitchFamily="34" charset="0"/>
              <a:buChar char="•"/>
            </a:pPr>
            <a:r>
              <a:rPr lang="en-IN" dirty="0"/>
              <a:t>Predicted label: Eco-Friendly (1) or Not (0)</a:t>
            </a:r>
          </a:p>
          <a:p>
            <a:pPr lvl="1"/>
            <a:endParaRPr lang="en-IN" dirty="0"/>
          </a:p>
          <a:p>
            <a:pPr>
              <a:buNone/>
            </a:pPr>
            <a:r>
              <a:rPr lang="en-IN" sz="2400" b="1" dirty="0"/>
              <a:t>Example:</a:t>
            </a:r>
          </a:p>
          <a:p>
            <a:r>
              <a:rPr lang="en-IN" dirty="0"/>
              <a:t>Test Material: Ethanol</a:t>
            </a:r>
            <a:br>
              <a:rPr lang="en-IN" dirty="0"/>
            </a:br>
            <a:r>
              <a:rPr lang="en-IN" dirty="0"/>
              <a:t>Description: “Ethanol is a biodegradable, low-toxicity solvent used in cleaning products and cosmetics.”</a:t>
            </a:r>
            <a:br>
              <a:rPr lang="en-IN" dirty="0"/>
            </a:br>
            <a:r>
              <a:rPr lang="en-IN" dirty="0"/>
              <a:t>Predicted Label: 1 (Eco-Friendly)</a:t>
            </a:r>
            <a:br>
              <a:rPr lang="en-IN" dirty="0"/>
            </a:br>
            <a:r>
              <a:rPr lang="en-IN" dirty="0"/>
              <a:t>Actual Label: 1 ✅</a:t>
            </a:r>
          </a:p>
        </p:txBody>
      </p:sp>
    </p:spTree>
    <p:extLst>
      <p:ext uri="{BB962C8B-B14F-4D97-AF65-F5344CB8AC3E}">
        <p14:creationId xmlns:p14="http://schemas.microsoft.com/office/powerpoint/2010/main" val="748931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953D7D-5D43-9A67-5DDD-3EBF32E4DB99}"/>
              </a:ext>
            </a:extLst>
          </p:cNvPr>
          <p:cNvSpPr txBox="1"/>
          <p:nvPr/>
        </p:nvSpPr>
        <p:spPr>
          <a:xfrm>
            <a:off x="224589" y="1"/>
            <a:ext cx="11967411" cy="5078313"/>
          </a:xfrm>
          <a:prstGeom prst="rect">
            <a:avLst/>
          </a:prstGeom>
          <a:noFill/>
        </p:spPr>
        <p:txBody>
          <a:bodyPr wrap="square">
            <a:spAutoFit/>
          </a:bodyPr>
          <a:lstStyle/>
          <a:p>
            <a:pPr>
              <a:buNone/>
            </a:pPr>
            <a:r>
              <a:rPr lang="en-US" sz="2400" b="1" dirty="0"/>
              <a:t>Novelty and Applications:</a:t>
            </a:r>
          </a:p>
          <a:p>
            <a:pPr>
              <a:buNone/>
            </a:pPr>
            <a:endParaRPr lang="en-US" sz="2400" b="1" dirty="0"/>
          </a:p>
          <a:p>
            <a:pPr>
              <a:buNone/>
            </a:pPr>
            <a:r>
              <a:rPr lang="en-US" sz="2400" b="1" dirty="0"/>
              <a:t>Novelty:</a:t>
            </a:r>
          </a:p>
          <a:p>
            <a:pPr>
              <a:buFont typeface="Arial" panose="020B0604020202020204" pitchFamily="34" charset="0"/>
              <a:buChar char="•"/>
            </a:pPr>
            <a:r>
              <a:rPr lang="en-US" dirty="0"/>
              <a:t>Uses public chemical safety data + natural language descriptions for classification</a:t>
            </a:r>
          </a:p>
          <a:p>
            <a:pPr>
              <a:buFont typeface="Arial" panose="020B0604020202020204" pitchFamily="34" charset="0"/>
              <a:buChar char="•"/>
            </a:pPr>
            <a:r>
              <a:rPr lang="en-US" dirty="0"/>
              <a:t>Lightweight, interpretable, and explainable model</a:t>
            </a:r>
          </a:p>
          <a:p>
            <a:pPr>
              <a:buFont typeface="Arial" panose="020B0604020202020204" pitchFamily="34" charset="0"/>
              <a:buChar char="•"/>
            </a:pPr>
            <a:r>
              <a:rPr lang="en-US" dirty="0"/>
              <a:t>Requires minimal scientific/chemical knowledge to use.</a:t>
            </a:r>
          </a:p>
          <a:p>
            <a:pPr>
              <a:buFont typeface="Arial" panose="020B0604020202020204" pitchFamily="34" charset="0"/>
              <a:buChar char="•"/>
            </a:pPr>
            <a:endParaRPr lang="en-US" sz="2400" b="1" dirty="0"/>
          </a:p>
          <a:p>
            <a:pPr>
              <a:buNone/>
            </a:pPr>
            <a:r>
              <a:rPr lang="en-US" sz="2400" b="1" dirty="0"/>
              <a:t>Real-Life Applications:</a:t>
            </a:r>
          </a:p>
          <a:p>
            <a:pPr>
              <a:buFont typeface="Arial" panose="020B0604020202020204" pitchFamily="34" charset="0"/>
              <a:buChar char="•"/>
            </a:pPr>
            <a:r>
              <a:rPr lang="en-US" dirty="0"/>
              <a:t>Sustainable product development</a:t>
            </a:r>
          </a:p>
          <a:p>
            <a:pPr>
              <a:buFont typeface="Arial" panose="020B0604020202020204" pitchFamily="34" charset="0"/>
              <a:buChar char="•"/>
            </a:pPr>
            <a:r>
              <a:rPr lang="en-US" dirty="0"/>
              <a:t>Assisting manufacturers in choosing safe raw materials</a:t>
            </a:r>
          </a:p>
          <a:p>
            <a:pPr>
              <a:buFont typeface="Arial" panose="020B0604020202020204" pitchFamily="34" charset="0"/>
              <a:buChar char="•"/>
            </a:pPr>
            <a:r>
              <a:rPr lang="en-US" dirty="0"/>
              <a:t>Educational tool for eco-material awareness</a:t>
            </a:r>
          </a:p>
          <a:p>
            <a:pPr>
              <a:buFont typeface="Arial" panose="020B0604020202020204" pitchFamily="34" charset="0"/>
              <a:buChar char="•"/>
            </a:pPr>
            <a:r>
              <a:rPr lang="en-US" dirty="0"/>
              <a:t>Integration into procurement or inventory systems for material screening.</a:t>
            </a:r>
          </a:p>
          <a:p>
            <a:endParaRPr lang="en-US" dirty="0"/>
          </a:p>
          <a:p>
            <a:pPr>
              <a:buNone/>
            </a:pPr>
            <a:r>
              <a:rPr lang="en-US" sz="2400" b="1" dirty="0"/>
              <a:t>Future Scope:</a:t>
            </a:r>
          </a:p>
          <a:p>
            <a:pPr>
              <a:buFont typeface="Arial" panose="020B0604020202020204" pitchFamily="34" charset="0"/>
              <a:buChar char="•"/>
            </a:pPr>
            <a:r>
              <a:rPr lang="en-US" dirty="0"/>
              <a:t>Add image-based material recognition</a:t>
            </a:r>
          </a:p>
          <a:p>
            <a:pPr>
              <a:buFont typeface="Arial" panose="020B0604020202020204" pitchFamily="34" charset="0"/>
              <a:buChar char="•"/>
            </a:pPr>
            <a:r>
              <a:rPr lang="en-US" dirty="0"/>
              <a:t>Use Explainable AI (e.g., SHAP) to highlight why a material is classified one way</a:t>
            </a:r>
          </a:p>
        </p:txBody>
      </p:sp>
    </p:spTree>
    <p:extLst>
      <p:ext uri="{BB962C8B-B14F-4D97-AF65-F5344CB8AC3E}">
        <p14:creationId xmlns:p14="http://schemas.microsoft.com/office/powerpoint/2010/main" val="15475755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7</TotalTime>
  <Words>511</Words>
  <Application>Microsoft Office PowerPoint</Application>
  <PresentationFormat>Widescreen</PresentationFormat>
  <Paragraphs>62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Celestial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Chintala Srivani</dc:creator>
  <cp:lastModifiedBy>Chintala Srivani</cp:lastModifiedBy>
  <cp:revision>1</cp:revision>
  <dcterms:created xsi:type="dcterms:W3CDTF">2025-06-02T19:35:12Z</dcterms:created>
  <dcterms:modified xsi:type="dcterms:W3CDTF">2025-06-02T19:42:54Z</dcterms:modified>
</cp:coreProperties>
</file>